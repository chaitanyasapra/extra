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5A9FD-B7FA-CB6C-5809-8F5C4D1B4EEF}" v="2" dt="2025-12-12T08:43:59.548"/>
    <p1510:client id="{5BE6A981-22AA-7009-6259-1BC3550AE7AC}" v="600" dt="2025-12-12T18:31:29.640"/>
    <p1510:client id="{6E0596F3-18E3-C32F-A494-32BEFA524722}" v="24" dt="2025-12-12T17:13:18.721"/>
    <p1510:client id="{831B2D04-95D5-F831-8885-025D998B8606}" v="148" dt="2025-12-13T09:00:44.927"/>
    <p1510:client id="{C89E012B-3C35-49FB-F315-5DF6D22B636D}" v="54" dt="2025-12-12T08:43:26.162"/>
    <p1510:client id="{F24084E4-D7F7-B79D-335A-C6A3BB21657A}" v="61" dt="2025-12-12T12:39:13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939A4-7C0B-4CF0-9074-998F20A0A38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0787F-B331-46D2-90B2-A2EEACFA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6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Profile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9718DD-4AAF-4D8A-BA7D-B91CCB27E3C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37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838"/>
            <a:ext cx="12209991" cy="6869837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6914" y="437584"/>
            <a:ext cx="2703286" cy="1205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 txBox="1">
            <a:spLocks/>
          </p:cNvSpPr>
          <p:nvPr userDrawn="1"/>
        </p:nvSpPr>
        <p:spPr>
          <a:xfrm>
            <a:off x="457200" y="6408032"/>
            <a:ext cx="5129684" cy="25623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8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© 2020 Copyright Genpact.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30600" y="2507346"/>
            <a:ext cx="8229600" cy="1302654"/>
          </a:xfrm>
          <a:prstGeom prst="rect">
            <a:avLst/>
          </a:prstGeom>
        </p:spPr>
        <p:txBody>
          <a:bodyPr lIns="0"/>
          <a:lstStyle>
            <a:lvl1pPr>
              <a:defRPr kumimoji="0" lang="en-US" sz="4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title text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7648" y="4175579"/>
            <a:ext cx="6331832" cy="1828800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defRPr sz="2000">
                <a:solidFill>
                  <a:schemeClr val="tx1"/>
                </a:solidFill>
                <a:latin typeface="+mj-lt"/>
              </a:defRPr>
            </a:lvl1pPr>
            <a:lvl2pPr algn="l">
              <a:defRPr/>
            </a:lvl2pPr>
          </a:lstStyle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527648" y="2008094"/>
            <a:ext cx="6722417" cy="381000"/>
          </a:xfrm>
          <a:prstGeom prst="rect">
            <a:avLst/>
          </a:prstGeom>
        </p:spPr>
        <p:txBody>
          <a:bodyPr lIns="0"/>
          <a:lstStyle>
            <a:lvl1pPr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0674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76250"/>
            <a:ext cx="8534400" cy="554038"/>
          </a:xfrm>
          <a:prstGeom prst="rect">
            <a:avLst/>
          </a:prstGeom>
        </p:spPr>
        <p:txBody>
          <a:bodyPr lIns="0"/>
          <a:lstStyle>
            <a:lvl1pPr>
              <a:defRPr lang="en-US" sz="3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Agenda opt 3</a:t>
            </a:r>
          </a:p>
        </p:txBody>
      </p:sp>
    </p:spTree>
    <p:extLst>
      <p:ext uri="{BB962C8B-B14F-4D97-AF65-F5344CB8AC3E}">
        <p14:creationId xmlns:p14="http://schemas.microsoft.com/office/powerpoint/2010/main" val="315619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6" y="0"/>
            <a:ext cx="12188948" cy="6872512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593" y="2533650"/>
            <a:ext cx="6469606" cy="14478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4800">
                <a:solidFill>
                  <a:schemeClr val="bg1"/>
                </a:solidFill>
              </a:rPr>
              <a:t>Divider slide options 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61924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0347" y="0"/>
            <a:ext cx="5210123" cy="6872508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rgbClr val="073262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74118" y="2693894"/>
            <a:ext cx="7069682" cy="11430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rgbClr val="07326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Divider slide options</a:t>
            </a:r>
            <a:br>
              <a:rPr lang="en-US"/>
            </a:br>
            <a:r>
              <a:rPr lang="en-US"/>
              <a:t>Lorem ipsum dolor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DCBE3F-9CE8-4FAC-94F4-2B6FBE706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916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5038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482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427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lIns="0"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82600" y="29028"/>
            <a:ext cx="6604000" cy="228600"/>
          </a:xfrm>
          <a:prstGeom prst="rect">
            <a:avLst/>
          </a:prstGeom>
        </p:spPr>
        <p:txBody>
          <a:bodyPr l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ctr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600986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lang="en-US" sz="800" smtClean="0">
                <a:solidFill>
                  <a:schemeClr val="tx1"/>
                </a:solidFill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800">
                <a:solidFill>
                  <a:srgbClr val="44546A"/>
                </a:solidFill>
                <a:latin typeface="+mn-lt"/>
                <a:ea typeface="Calibri" charset="0"/>
                <a:cs typeface="Calibri" charset="0"/>
              </a:rPr>
              <a:t>©</a:t>
            </a:r>
            <a:r>
              <a:rPr lang="en-IN"/>
              <a:t> 2020 Copyright Genpact. All Rights Reserved.</a:t>
            </a:r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2601" y="5181600"/>
            <a:ext cx="2412999" cy="88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21525"/>
            <a:ext cx="5791200" cy="1143000"/>
          </a:xfrm>
          <a:prstGeom prst="rect">
            <a:avLst/>
          </a:prstGeom>
        </p:spPr>
        <p:txBody>
          <a:bodyPr lIns="0"/>
          <a:lstStyle>
            <a:lvl1pPr>
              <a:defRPr lang="en-US" sz="88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2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633A08-4C37-4CC3-A2EF-74DBF0150E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792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lIns="0"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3052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8F17-CF6F-441E-9FAD-6FDD72241087}" type="datetimeFigureOut">
              <a:rPr lang="id-ID" smtClean="0"/>
              <a:t>13/12/2025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E0D5-C779-4B48-9D09-DC37D8A4644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9384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9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  <p15:guide id="5" orient="horz" pos="777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1FDBD9-8B9D-4DC3-87BB-F12A75D40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85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1037772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AC7825-FADD-4B94-9F03-DBC9C97A18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6583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Picture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67060" cy="965200"/>
          </a:xfrm>
          <a:prstGeom prst="rect">
            <a:avLst/>
          </a:prstGeom>
        </p:spPr>
        <p:txBody>
          <a:bodyPr lIns="0" anchor="t"/>
          <a:lstStyle>
            <a:lvl1pPr>
              <a:defRPr sz="28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259"/>
            <a:ext cx="11267060" cy="460656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FC5EC5A-7801-4D3D-8F02-C6FBE77FD9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525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ED5E71-C4F3-4FFF-9273-F7D52479E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6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2593"/>
            <a:ext cx="8678335" cy="294521"/>
          </a:xfrm>
          <a:prstGeom prst="rect">
            <a:avLst/>
          </a:prstGeom>
        </p:spPr>
        <p:txBody>
          <a:bodyPr lIns="0" rIns="0" anchor="ctr"/>
          <a:lstStyle>
            <a:lvl1pPr>
              <a:defRPr sz="1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85D73AC-0BCE-4CCB-83AF-3DC90C3F96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329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533400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C06C7D2-76A2-4FA7-8219-FAC568E935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191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AF602A9-DD3C-4252-85E0-54E035051C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50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84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1" y="407340"/>
            <a:ext cx="11277600" cy="1107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791" y="320235"/>
            <a:ext cx="1936380" cy="122945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1" y="909247"/>
            <a:ext cx="320590" cy="612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27984" y="468946"/>
            <a:ext cx="381633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b="1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Chaitanya Sapra</a:t>
            </a:r>
            <a:endParaRPr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3409899" y="2300763"/>
            <a:ext cx="0" cy="45572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338559" y="2482889"/>
            <a:ext cx="3062398" cy="74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numCol="1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Industries and Domain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Computer Science &amp; Engineering</a:t>
            </a:r>
            <a:endParaRPr lang="en-US" altLang="en-US" sz="1100" dirty="0">
              <a:solidFill>
                <a:srgbClr val="073262"/>
              </a:solidFill>
              <a:latin typeface="Calibri" panose="020F0502020204030204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Artificial Intelligence &amp; Machine Learning </a:t>
            </a:r>
            <a:endParaRPr lang="en-US" altLang="en-US" sz="1100" dirty="0">
              <a:solidFill>
                <a:srgbClr val="073262"/>
              </a:solidFill>
              <a:latin typeface="Calibri" panose="020F0502020204030204"/>
              <a:ea typeface="ＭＳ Ｐゴシック"/>
              <a:cs typeface="Calibri"/>
            </a:endParaRPr>
          </a:p>
        </p:txBody>
      </p:sp>
      <p:sp>
        <p:nvSpPr>
          <p:cNvPr id="23" name="Snip Diagonal Corner Rectangle 22"/>
          <p:cNvSpPr/>
          <p:nvPr/>
        </p:nvSpPr>
        <p:spPr>
          <a:xfrm>
            <a:off x="9034769" y="402394"/>
            <a:ext cx="2700032" cy="1119333"/>
          </a:xfrm>
          <a:prstGeom prst="snip2DiagRect">
            <a:avLst>
              <a:gd name="adj1" fmla="val 50000"/>
              <a:gd name="adj2" fmla="val 0"/>
            </a:avLst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22812" y="843976"/>
            <a:ext cx="8894757" cy="612180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Technical Consultant</a:t>
            </a:r>
            <a:endParaRPr lang="en-US">
              <a:solidFill>
                <a:prstClr val="white"/>
              </a:solidFill>
              <a:ea typeface="Calibri"/>
              <a:cs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10E2B2-CC12-4123-8557-AAE166F9A2AE}"/>
              </a:ext>
            </a:extLst>
          </p:cNvPr>
          <p:cNvSpPr txBox="1"/>
          <p:nvPr/>
        </p:nvSpPr>
        <p:spPr>
          <a:xfrm>
            <a:off x="3676913" y="2497203"/>
            <a:ext cx="7918784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Experience Summary</a:t>
            </a:r>
          </a:p>
          <a:p>
            <a:pPr defTabSz="761130" fontAlgn="base">
              <a:buClr>
                <a:srgbClr val="9FA1A4"/>
              </a:buClr>
              <a:defRPr/>
            </a:pPr>
            <a:r>
              <a:rPr lang="en-US" sz="1200" dirty="0">
                <a:solidFill>
                  <a:srgbClr val="073262"/>
                </a:solidFill>
              </a:rPr>
              <a:t>Projects</a:t>
            </a:r>
            <a:endParaRPr lang="en-US" sz="1050" b="0" dirty="0">
              <a:solidFill>
                <a:srgbClr val="073262"/>
              </a:solidFill>
              <a:sym typeface="Calibri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  <a:sym typeface="Calibri"/>
              </a:rPr>
              <a:t>Contributed to the design and development of AI-powered applications, leveraging Machine Learning and Deep Learning techniques to solve real-world problems across healthcare, education, and analytics domains.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</a:rPr>
              <a:t>Developed E.Y.E (Ethogram Yielding Engine), an AI-based system for automated animal behavior analysis using video processing, object tracking, and action classification.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</a:rPr>
              <a:t>Designed and implemented CoeusQuest, a scalable web-based examination platform enabling online assessments, result storage, and admin-level customization for global learning environments.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</a:rPr>
              <a:t>Built Cure-AI, an AI-driven healthcare assistance system that generates intelligent responses based on user inputs to provide basic health guidance using Machine Learning and NLP techniques.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</a:rPr>
              <a:t>Developed Car-Cave, a machine learning-based car price prediction web application using regression models and user-input driven analytics.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073262"/>
                </a:solidFill>
              </a:rPr>
              <a:t>Worked with structured and unstructured data, performing data preprocessing, analysis, and visualization using Python libraries such as NumPy, Pandas, and Matplotlib.</a:t>
            </a:r>
            <a:endParaRPr lang="en-US" sz="1050" b="0" dirty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en-US" sz="1050" b="0" dirty="0">
                <a:solidFill>
                  <a:srgbClr val="073262"/>
                </a:solidFill>
                <a:ea typeface="Calibri"/>
                <a:cs typeface="Calibri"/>
              </a:rPr>
              <a:t>Implemented end-to-end web solutions, including backend logic, data handling, and frontend integration for multiple projects.</a:t>
            </a:r>
            <a:endParaRPr lang="en-US" sz="1050" b="0" dirty="0">
              <a:solidFill>
                <a:srgbClr val="073262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rgbClr val="073262"/>
                </a:solidFill>
              </a:rPr>
              <a:t>Functional Competencies</a:t>
            </a:r>
            <a:endParaRPr lang="en-US" sz="1200" dirty="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  <a:defRPr/>
            </a:pPr>
            <a:r>
              <a:rPr lang="en-US" sz="1100" b="0">
                <a:solidFill>
                  <a:srgbClr val="073262"/>
                </a:solidFill>
                <a:ea typeface="Calibri"/>
                <a:cs typeface="Calibri"/>
              </a:rPr>
              <a:t>Participated in project planning and estimation activities, contributing to solution design and implementation approaches.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b="0">
                <a:solidFill>
                  <a:srgbClr val="073262"/>
                </a:solidFill>
                <a:ea typeface="Calibri"/>
                <a:cs typeface="Calibri"/>
              </a:rPr>
              <a:t>Communicated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 progress, challenges, and outcomes effectively, demonstrating strong written and verbal communication skills.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b="0" dirty="0">
                <a:solidFill>
                  <a:srgbClr val="073262"/>
                </a:solidFill>
                <a:ea typeface="+mn-lt"/>
                <a:cs typeface="+mn-lt"/>
              </a:rPr>
              <a:t>Worked closely with cross-functional technical teams to deliver AI-driven and software-based solutions aligned with project goals.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b="0" dirty="0">
                <a:solidFill>
                  <a:srgbClr val="073262"/>
                </a:solidFill>
                <a:latin typeface="Calibri" panose="020F0502020204030204"/>
                <a:ea typeface="Calibri"/>
                <a:cs typeface="Calibri"/>
              </a:rPr>
              <a:t>Exhibited adaptability and a strong learning mindset, quickly acquiring new technologies and applying them to practical use cases.</a:t>
            </a:r>
            <a:endParaRPr lang="en-US" sz="1050" b="0" i="0" u="none" strike="noStrike" kern="120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b="0" dirty="0">
                <a:solidFill>
                  <a:srgbClr val="073262"/>
                </a:solidFill>
                <a:latin typeface="Calibri" panose="020F0502020204030204"/>
                <a:ea typeface="Calibri"/>
                <a:cs typeface="Calibri"/>
              </a:rPr>
              <a:t>Demonstrated strong analytical and problem-solving skills while debugging, optimizing, and enhancing application performance.</a:t>
            </a:r>
            <a:endParaRPr lang="en-US" sz="1050" b="0" i="0" u="none" strike="noStrike" kern="120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50" b="0">
                <a:solidFill>
                  <a:srgbClr val="073262"/>
                </a:solidFill>
                <a:latin typeface="Calibri" panose="020F0502020204030204"/>
                <a:ea typeface="Calibri"/>
                <a:cs typeface="Calibri"/>
              </a:rPr>
              <a:t>Maintained adherence to coding standards, documentation practices, and quality expectations throughout project execution.</a:t>
            </a:r>
            <a:endParaRPr lang="en-US" sz="1050" b="0" dirty="0">
              <a:solidFill>
                <a:srgbClr val="073262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defRPr/>
            </a:pPr>
            <a:endParaRPr lang="en-US" sz="1050" b="0" dirty="0">
              <a:solidFill>
                <a:srgbClr val="073262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defRPr/>
            </a:pPr>
            <a:endParaRPr lang="en-US" sz="1400">
              <a:solidFill>
                <a:srgbClr val="073262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defRPr/>
            </a:pPr>
            <a:endParaRPr lang="en-US" sz="1400">
              <a:solidFill>
                <a:srgbClr val="073262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E400936-0AF8-4073-A60D-888932F9E10F}"/>
              </a:ext>
            </a:extLst>
          </p:cNvPr>
          <p:cNvSpPr/>
          <p:nvPr/>
        </p:nvSpPr>
        <p:spPr>
          <a:xfrm>
            <a:off x="3590365" y="2352745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7623744-58E2-4541-A0D5-D2FD801DFBE1}"/>
              </a:ext>
            </a:extLst>
          </p:cNvPr>
          <p:cNvCxnSpPr/>
          <p:nvPr/>
        </p:nvCxnSpPr>
        <p:spPr>
          <a:xfrm>
            <a:off x="3491979" y="2284618"/>
            <a:ext cx="809727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35379A5-0DC4-4E40-BC04-F24BE0A4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2650" y="2647950"/>
            <a:ext cx="8202150" cy="42100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numCol="2" spcCol="182880">
            <a:noAutofit/>
          </a:bodyPr>
          <a:lstStyle/>
          <a:p>
            <a:pPr marL="0" lvl="1" eaLnBrk="0" hangingPunct="0">
              <a:buClr>
                <a:srgbClr val="10548C"/>
              </a:buClr>
              <a:defRPr/>
            </a:pPr>
            <a:endParaRPr lang="en-US" sz="1200">
              <a:solidFill>
                <a:srgbClr val="073262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CAA870-E53B-4894-A38F-81E8FD1D51E4}"/>
              </a:ext>
            </a:extLst>
          </p:cNvPr>
          <p:cNvSpPr/>
          <p:nvPr/>
        </p:nvSpPr>
        <p:spPr>
          <a:xfrm>
            <a:off x="455565" y="1536165"/>
            <a:ext cx="11105135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1200" i="1">
                <a:solidFill>
                  <a:srgbClr val="414141"/>
                </a:solidFill>
              </a:rPr>
              <a:t>Chaitanya is a highly</a:t>
            </a:r>
            <a:r>
              <a:rPr lang="en-US" sz="1200" i="1">
                <a:solidFill>
                  <a:srgbClr val="414141"/>
                </a:solidFill>
                <a:ea typeface="+mn-lt"/>
                <a:cs typeface="+mn-lt"/>
              </a:rPr>
              <a:t> driven tech enthusiast with a versatile skill set and a strong foundation in Machine Learning, MySQL, Java Spring Boot, and Web Development. He has hands-on experience building AI-powered projects and developing end-to-end web solutions, contributing to multiple projects across domains. He is passionate about learning, technology, and innovative problem-solving, and is eager</a:t>
            </a:r>
            <a:r>
              <a:rPr lang="en-US" sz="1200" i="1">
                <a:solidFill>
                  <a:srgbClr val="414141"/>
                </a:solidFill>
              </a:rPr>
              <a:t> to apply his knowledge to real-world challenges </a:t>
            </a:r>
            <a:r>
              <a:rPr lang="en-US" sz="1200" i="1">
                <a:solidFill>
                  <a:srgbClr val="414141"/>
                </a:solidFill>
                <a:ea typeface="+mn-lt"/>
                <a:cs typeface="+mn-lt"/>
              </a:rPr>
              <a:t>to </a:t>
            </a:r>
            <a:r>
              <a:rPr lang="en-US" sz="1200" i="1">
                <a:solidFill>
                  <a:srgbClr val="414141"/>
                </a:solidFill>
              </a:rPr>
              <a:t>drive meaningful change. He also has exposure to multi-layered application architectures, data processing and analysis, and the implementation of intelligent automation solutions</a:t>
            </a:r>
            <a:r>
              <a:rPr lang="en-US" sz="1200" i="1">
                <a:solidFill>
                  <a:srgbClr val="414141"/>
                </a:solidFill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640190-A8E9-4E0D-BD24-2F4D5316B864}"/>
              </a:ext>
            </a:extLst>
          </p:cNvPr>
          <p:cNvCxnSpPr>
            <a:cxnSpLocks/>
          </p:cNvCxnSpPr>
          <p:nvPr/>
        </p:nvCxnSpPr>
        <p:spPr>
          <a:xfrm>
            <a:off x="343511" y="3293057"/>
            <a:ext cx="2884483" cy="2132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AE0835-90FA-42E9-9D1A-5E841B867DE4}"/>
              </a:ext>
            </a:extLst>
          </p:cNvPr>
          <p:cNvCxnSpPr>
            <a:cxnSpLocks/>
          </p:cNvCxnSpPr>
          <p:nvPr/>
        </p:nvCxnSpPr>
        <p:spPr>
          <a:xfrm>
            <a:off x="346364" y="5107679"/>
            <a:ext cx="2892562" cy="36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12">
            <a:extLst>
              <a:ext uri="{FF2B5EF4-FFF2-40B4-BE49-F238E27FC236}">
                <a16:creationId xmlns:a16="http://schemas.microsoft.com/office/drawing/2014/main" id="{344624AE-9802-425C-8D53-796D9034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4" y="5177515"/>
            <a:ext cx="2884749" cy="106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Education and Certifications</a:t>
            </a:r>
          </a:p>
          <a:p>
            <a:pPr marL="117475" indent="-117475" fontAlgn="base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GB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B.E in Computer Science &amp; Engineering (AI Specialization) - Chitkara University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GB" sz="110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Business Intelligence (BI) Essentials - IBM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GB" sz="110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Generative AI for Business Intelligence Analysts - IBM</a:t>
            </a:r>
            <a:endParaRPr lang="en-GB" sz="1100" dirty="0">
              <a:solidFill>
                <a:srgbClr val="073262"/>
              </a:solidFill>
              <a:latin typeface="Calibri" panose="020F0502020204030204"/>
              <a:ea typeface="ＭＳ Ｐゴシック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GB" sz="1100" dirty="0">
              <a:solidFill>
                <a:srgbClr val="073262"/>
              </a:solidFill>
              <a:latin typeface="Calibri" panose="020F0502020204030204"/>
              <a:ea typeface="ＭＳ Ｐゴシック"/>
              <a:cs typeface="Calibri"/>
            </a:endParaRP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EAF7BD03-A488-4C83-ADA2-9E1533832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91" y="6375922"/>
            <a:ext cx="1391227" cy="22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defRPr/>
            </a:pPr>
            <a:r>
              <a:rPr lang="en-US" sz="1200">
                <a:solidFill>
                  <a:srgbClr val="073262"/>
                </a:solidFill>
                <a:latin typeface="Calibri" panose="020F0502020204030204"/>
                <a:ea typeface="ＭＳ Ｐゴシック"/>
              </a:rPr>
              <a:t>Location: Bangalore</a:t>
            </a:r>
            <a:endParaRPr lang="en-US" sz="1200">
              <a:solidFill>
                <a:srgbClr val="073262"/>
              </a:solidFill>
              <a:latin typeface="Calibri" panose="020F0502020204030204"/>
              <a:cs typeface="Calibri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55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8A94C6-A081-416D-ABCE-6FFF241AE7C0}"/>
              </a:ext>
            </a:extLst>
          </p:cNvPr>
          <p:cNvCxnSpPr>
            <a:cxnSpLocks/>
          </p:cNvCxnSpPr>
          <p:nvPr/>
        </p:nvCxnSpPr>
        <p:spPr>
          <a:xfrm>
            <a:off x="3741213" y="2421829"/>
            <a:ext cx="8086675" cy="47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4AB3CEE3-0B8D-36B6-0907-9910FC881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30" y="373431"/>
            <a:ext cx="1199590" cy="1180544"/>
          </a:xfrm>
          <a:prstGeom prst="rect">
            <a:avLst/>
          </a:prstGeom>
        </p:spPr>
      </p:pic>
      <p:sp>
        <p:nvSpPr>
          <p:cNvPr id="3" name="Text Box 12">
            <a:extLst>
              <a:ext uri="{FF2B5EF4-FFF2-40B4-BE49-F238E27FC236}">
                <a16:creationId xmlns:a16="http://schemas.microsoft.com/office/drawing/2014/main" id="{500C729A-9809-F06C-F736-A5B966523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66" y="3424182"/>
            <a:ext cx="3107220" cy="1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numCol="1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defRPr/>
            </a:pPr>
            <a:r>
              <a:rPr lang="en-GB">
                <a:solidFill>
                  <a:srgbClr val="073262"/>
                </a:solidFill>
                <a:latin typeface="Calibri" panose="020F0502020204030204"/>
                <a:ea typeface="Calibri"/>
              </a:rPr>
              <a:t>Technical</a:t>
            </a:r>
            <a:r>
              <a:rPr lang="en-GB" dirty="0">
                <a:solidFill>
                  <a:srgbClr val="073262"/>
                </a:solidFill>
                <a:latin typeface="Calibri" panose="020F0502020204030204"/>
                <a:ea typeface="Calibri"/>
              </a:rPr>
              <a:t> Skills</a:t>
            </a:r>
            <a:endParaRPr lang="en-GB" sz="1400" i="0" u="none" strike="noStrike" kern="1200" cap="none" spc="0" normalizeH="0" baseline="0" noProof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ＭＳ Ｐゴシック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</a:rPr>
              <a:t>Java (Spring Boot),</a:t>
            </a:r>
            <a:endParaRPr lang="en-US" altLang="en-US" sz="1100">
              <a:solidFill>
                <a:srgbClr val="073262"/>
              </a:solidFill>
              <a:latin typeface="Calibri" panose="020F0502020204030204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MySQl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ML and AI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HTML, CSS and Java Script</a:t>
            </a:r>
            <a:endParaRPr lang="en-US" altLang="en-US" sz="1100">
              <a:solidFill>
                <a:srgbClr val="073262"/>
              </a:solidFill>
              <a:latin typeface="Calibri" panose="020F0502020204030204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Git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 dirty="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Data Science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sz="1100">
                <a:solidFill>
                  <a:srgbClr val="073262"/>
                </a:solidFill>
                <a:latin typeface="Calibri" panose="020F0502020204030204"/>
                <a:ea typeface="ＭＳ Ｐゴシック"/>
                <a:cs typeface="Calibri"/>
              </a:rPr>
              <a:t>React.js</a:t>
            </a: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en-US" sz="1100" dirty="0">
              <a:solidFill>
                <a:srgbClr val="073262"/>
              </a:solidFill>
              <a:latin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4210545"/>
      </p:ext>
    </p:extLst>
  </p:cSld>
  <p:clrMapOvr>
    <a:masterClrMapping/>
  </p:clrMapOvr>
</p:sld>
</file>

<file path=ppt/theme/theme1.xml><?xml version="1.0" encoding="utf-8"?>
<a:theme xmlns:a="http://schemas.openxmlformats.org/drawingml/2006/main" name="1_Blank">
  <a:themeElements>
    <a:clrScheme name="Genpact Transformation">
      <a:dk1>
        <a:srgbClr val="073262"/>
      </a:dk1>
      <a:lt1>
        <a:sysClr val="window" lastClr="FFFFFF"/>
      </a:lt1>
      <a:dk2>
        <a:srgbClr val="EBECED"/>
      </a:dk2>
      <a:lt2>
        <a:srgbClr val="BFC0C1"/>
      </a:lt2>
      <a:accent1>
        <a:srgbClr val="FF555F"/>
      </a:accent1>
      <a:accent2>
        <a:srgbClr val="00AECF"/>
      </a:accent2>
      <a:accent3>
        <a:srgbClr val="073262"/>
      </a:accent3>
      <a:accent4>
        <a:srgbClr val="EA3946"/>
      </a:accent4>
      <a:accent5>
        <a:srgbClr val="60C7D7"/>
      </a:accent5>
      <a:accent6>
        <a:srgbClr val="10548C"/>
      </a:accent6>
      <a:hlink>
        <a:srgbClr val="00AECF"/>
      </a:hlink>
      <a:folHlink>
        <a:srgbClr val="1F49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876EA39-A927-4B02-92F1-9F3EC877DD27}" vid="{EE579C3A-0FFD-4428-8C6E-B0CC789B6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68132022FB6F47AA7F3A8317EB1C67" ma:contentTypeVersion="7" ma:contentTypeDescription="Create a new document." ma:contentTypeScope="" ma:versionID="5c35ab77d18dff1779aa35fc2e923bb5">
  <xsd:schema xmlns:xsd="http://www.w3.org/2001/XMLSchema" xmlns:xs="http://www.w3.org/2001/XMLSchema" xmlns:p="http://schemas.microsoft.com/office/2006/metadata/properties" xmlns:ns2="f360ad73-3855-4998-9bc4-b9064831062c" targetNamespace="http://schemas.microsoft.com/office/2006/metadata/properties" ma:root="true" ma:fieldsID="d04212cf210c5940aaa282a169fc5535" ns2:_="">
    <xsd:import namespace="f360ad73-3855-4998-9bc4-b906483106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0ad73-3855-4998-9bc4-b906483106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31CD98-5F79-4499-8EF9-FD97993FF7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40F4891-01D6-48C3-830E-2F32D23973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710DAA-6F23-455A-9077-D1F51CDCCFD7}">
  <ds:schemaRefs>
    <ds:schemaRef ds:uri="f360ad73-3855-4998-9bc4-b906483106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1_Blank</vt:lpstr>
      <vt:lpstr>PowerPoint Presentation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Godavarthi, Abhishek</dc:creator>
  <cp:revision>327</cp:revision>
  <dcterms:created xsi:type="dcterms:W3CDTF">2020-10-06T06:41:46Z</dcterms:created>
  <dcterms:modified xsi:type="dcterms:W3CDTF">2025-12-13T09:02:37Z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0x0101003D68132022FB6F47AA7F3A8317EB1C67</vt:lpwstr>
  </property>
</Properties>
</file>